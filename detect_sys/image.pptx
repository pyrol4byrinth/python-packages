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7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D3BE3-DD5F-9719-7E17-B18597F5B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5F0569-8902-5D05-A8A1-E5D79FF11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01CDB9-D242-D7AC-FEAE-C0C215CE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A6A707-333E-B296-3277-DDBAE3BE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CA4E7F-DA69-15E8-CE7E-7EC68D31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0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BB290-F7B0-0F32-9B89-CC7894CB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2C927B-65D3-B7D2-8382-B98AC0A10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92438E-6146-43C5-DCA0-76E99F09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2E3D57-ADAC-C5F2-8FD6-C21F1CC2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D417EC-1D35-5E18-F556-16AFBCAF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82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2B510-ADC6-FA66-312C-B8CEA6C2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EF354C-173E-3FE2-CDB7-59B2F16E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715C4A-82B4-E2DE-DC3F-896353C1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8E8288-4F8F-EF2B-0715-3D46A592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C08D90-382B-CE29-88C3-956896DB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7F17CA-90AA-A6BC-866F-AEE44F5E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1776EC-2D56-3D67-C2DC-09AEFA2F9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E321A9-91C2-99EB-95A4-19520B9A5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E44CCA-1639-0538-936C-AFAF94CE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6E09F4-D825-75EF-FE8E-DF3C19F7E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D2D511-0166-E879-4998-066A3E51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31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C87D48-B53E-F560-6026-1729C0DC4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18C230-CC72-4FD2-FCDF-2138FD106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C060A5-037D-7266-47B7-30FFE061C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C060B3-9A58-B950-FA3A-7EB9B908D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2CFC20-6F8C-43EC-0EF0-6ACD6B9A7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7DE2AB-5F5C-1247-8A00-7EC1577D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20C6AC-5D77-6CD0-1180-535F14BA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3EEFE04-C92F-C317-0D1C-F984D41A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33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B69C90-12B5-BCBB-3F10-11CEE6B6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B5898F3-D4B1-5357-0602-A1E2DC95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3F458A-D731-34BA-7CF1-C97653B2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C52E7C-0EA1-C9D2-21DE-3889DA4A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73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842EFF-9EBF-C04A-2F2C-BEDC1676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CAF61BB-D183-B3FE-31EA-70513D3B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A43277-23CE-ECE3-C592-4BB7CEE9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40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EC9582-6394-270D-B323-2C4A60D0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96C02B-38B8-D5B8-5E65-BF42C5C6C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1138F6-F6F9-7908-04AE-A1B4F4AD3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646B9C-E98B-0D28-3423-091DB661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A03F1C-45F4-CFBF-C100-66958B91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1B6C43-6A42-13B0-9121-DCB94AAC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70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82964-5C32-CF05-4BC2-11AD3247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C3C0FA4-F286-083C-B890-E038BD82C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D9D1FB-9EF2-430E-F5E3-6E83842A8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ACC175-B0E7-053D-F0ED-9B3A7FBA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98A62A-9870-D137-2D26-AA83240C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368EE3-38BB-F670-39D6-48442CC2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0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B8BB3F-2A5D-C5CA-ED61-3188DABE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39C69C-3353-DEF4-C403-C0A04A50E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7515B6-15A8-C440-3334-CEE53F1F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84F4F-4E51-F0CD-5512-7E7BEB56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376AD3-CD3E-E7C4-3D25-9F49C7E9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62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22D22F-C7B0-687F-76DD-1C4F45DED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7809E8-177D-C8E8-65B6-669BCD059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D0D1E8-A6EE-B783-4602-A7C28A73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984E01-B879-7EE2-36C2-3EABE1CE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2E496A-3BA5-283B-1112-CD3112E2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57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4B47705-9646-6C94-FABC-38ED1F8F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E13EBB-7964-11E4-9132-7F81E9A38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61C008-337C-B431-0D8E-B5F47F1F0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486E8-4DFB-491E-9E3D-63D9A7644832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C718A9-9195-4798-D951-1EAEF90C9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6B0043-5E23-3F16-9821-F52DC4AE9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40872-15C0-476F-BB84-05F96960976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CF1478-628D-8D82-A6F1-CB474D27E5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11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332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1811FF6-BFA5-B8C9-848E-0A8BB2242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815975"/>
            <a:ext cx="10452100" cy="52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7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2660265-CA3E-971E-08A3-EE8C507F2A09}"/>
              </a:ext>
            </a:extLst>
          </p:cNvPr>
          <p:cNvSpPr/>
          <p:nvPr/>
        </p:nvSpPr>
        <p:spPr>
          <a:xfrm>
            <a:off x="582303" y="1017048"/>
            <a:ext cx="1193075" cy="1193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設備Ｘ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9F734CA-199F-F73B-1772-ED3E0A09662C}"/>
              </a:ext>
            </a:extLst>
          </p:cNvPr>
          <p:cNvSpPr/>
          <p:nvPr/>
        </p:nvSpPr>
        <p:spPr>
          <a:xfrm>
            <a:off x="2676714" y="1017048"/>
            <a:ext cx="1193075" cy="1193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設備</a:t>
            </a:r>
            <a:r>
              <a:rPr lang="ja-JP" altLang="en-US" dirty="0"/>
              <a:t>Ｙ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5956131-4DBF-3D70-CB33-F66C82C75DC2}"/>
              </a:ext>
            </a:extLst>
          </p:cNvPr>
          <p:cNvSpPr/>
          <p:nvPr/>
        </p:nvSpPr>
        <p:spPr>
          <a:xfrm>
            <a:off x="4771125" y="1017048"/>
            <a:ext cx="1193075" cy="1193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・・・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4519710-2E43-12BE-1779-A175B07C63A5}"/>
              </a:ext>
            </a:extLst>
          </p:cNvPr>
          <p:cNvSpPr/>
          <p:nvPr/>
        </p:nvSpPr>
        <p:spPr>
          <a:xfrm>
            <a:off x="6865536" y="1017048"/>
            <a:ext cx="1193075" cy="1193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設備Ｚ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A19B03-3D94-9A4F-7C61-130B1A78E109}"/>
              </a:ext>
            </a:extLst>
          </p:cNvPr>
          <p:cNvSpPr txBox="1"/>
          <p:nvPr/>
        </p:nvSpPr>
        <p:spPr>
          <a:xfrm>
            <a:off x="624842" y="2750054"/>
            <a:ext cx="11079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測定値</a:t>
            </a:r>
            <a:r>
              <a:rPr lang="ja-JP" altLang="en-US" dirty="0"/>
              <a:t>Ａ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測定値Ｂ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測定値Ｃ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測定値Ｄ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測定値Ｅ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AB55E0F-F40B-6E9E-F003-C2371405A863}"/>
              </a:ext>
            </a:extLst>
          </p:cNvPr>
          <p:cNvSpPr txBox="1"/>
          <p:nvPr/>
        </p:nvSpPr>
        <p:spPr>
          <a:xfrm>
            <a:off x="2719253" y="2750054"/>
            <a:ext cx="11079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測定値Ｆ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測定値Ｇ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測定値Ｈ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測定値Ｉ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測定値Ｊ</a:t>
            </a:r>
            <a:endParaRPr kumimoji="1" lang="en-US" altLang="ja-JP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0C57A22-9E6F-5963-459D-4BDA6E623D0F}"/>
              </a:ext>
            </a:extLst>
          </p:cNvPr>
          <p:cNvCxnSpPr>
            <a:cxnSpLocks/>
          </p:cNvCxnSpPr>
          <p:nvPr/>
        </p:nvCxnSpPr>
        <p:spPr>
          <a:xfrm>
            <a:off x="1775378" y="2932934"/>
            <a:ext cx="9438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5FE1AB9-298C-AF22-46B7-860781CFBFD0}"/>
              </a:ext>
            </a:extLst>
          </p:cNvPr>
          <p:cNvCxnSpPr>
            <a:cxnSpLocks/>
          </p:cNvCxnSpPr>
          <p:nvPr/>
        </p:nvCxnSpPr>
        <p:spPr>
          <a:xfrm flipV="1">
            <a:off x="1775377" y="2932934"/>
            <a:ext cx="943874" cy="5220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4F33E68-8212-3848-AAC1-35D8C09B392E}"/>
              </a:ext>
            </a:extLst>
          </p:cNvPr>
          <p:cNvCxnSpPr>
            <a:cxnSpLocks/>
          </p:cNvCxnSpPr>
          <p:nvPr/>
        </p:nvCxnSpPr>
        <p:spPr>
          <a:xfrm flipV="1">
            <a:off x="1775377" y="2932934"/>
            <a:ext cx="943874" cy="1076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CD0174C-1F84-1FA2-E414-8528BD70C89B}"/>
              </a:ext>
            </a:extLst>
          </p:cNvPr>
          <p:cNvCxnSpPr>
            <a:cxnSpLocks/>
          </p:cNvCxnSpPr>
          <p:nvPr/>
        </p:nvCxnSpPr>
        <p:spPr>
          <a:xfrm flipV="1">
            <a:off x="1775376" y="2932934"/>
            <a:ext cx="943875" cy="159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43679F9-7705-AAF6-FBC9-87D94559DE71}"/>
              </a:ext>
            </a:extLst>
          </p:cNvPr>
          <p:cNvCxnSpPr>
            <a:cxnSpLocks/>
          </p:cNvCxnSpPr>
          <p:nvPr/>
        </p:nvCxnSpPr>
        <p:spPr>
          <a:xfrm flipV="1">
            <a:off x="1775376" y="2932934"/>
            <a:ext cx="943875" cy="2179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D05FEB4-A428-4B05-5DC5-FA7B92F46535}"/>
              </a:ext>
            </a:extLst>
          </p:cNvPr>
          <p:cNvCxnSpPr>
            <a:cxnSpLocks/>
          </p:cNvCxnSpPr>
          <p:nvPr/>
        </p:nvCxnSpPr>
        <p:spPr>
          <a:xfrm>
            <a:off x="1775374" y="2932933"/>
            <a:ext cx="871814" cy="591912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902CFD0-E922-FFA0-E6E1-92209FDA120A}"/>
              </a:ext>
            </a:extLst>
          </p:cNvPr>
          <p:cNvCxnSpPr>
            <a:cxnSpLocks/>
          </p:cNvCxnSpPr>
          <p:nvPr/>
        </p:nvCxnSpPr>
        <p:spPr>
          <a:xfrm>
            <a:off x="1775374" y="3454995"/>
            <a:ext cx="871814" cy="65088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3E3C4601-F171-3BF9-895D-05CAC8876253}"/>
              </a:ext>
            </a:extLst>
          </p:cNvPr>
          <p:cNvCxnSpPr>
            <a:cxnSpLocks/>
          </p:cNvCxnSpPr>
          <p:nvPr/>
        </p:nvCxnSpPr>
        <p:spPr>
          <a:xfrm flipV="1">
            <a:off x="1775374" y="3520083"/>
            <a:ext cx="869432" cy="48917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0A83F69A-C575-FF06-8FD3-DD273120AF50}"/>
              </a:ext>
            </a:extLst>
          </p:cNvPr>
          <p:cNvCxnSpPr>
            <a:cxnSpLocks/>
          </p:cNvCxnSpPr>
          <p:nvPr/>
        </p:nvCxnSpPr>
        <p:spPr>
          <a:xfrm flipV="1">
            <a:off x="1784185" y="3515320"/>
            <a:ext cx="865384" cy="101600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813ECC8-BD04-040B-0CC7-64244C8AA1AB}"/>
              </a:ext>
            </a:extLst>
          </p:cNvPr>
          <p:cNvCxnSpPr>
            <a:cxnSpLocks/>
          </p:cNvCxnSpPr>
          <p:nvPr/>
        </p:nvCxnSpPr>
        <p:spPr>
          <a:xfrm flipV="1">
            <a:off x="1775374" y="3521953"/>
            <a:ext cx="869432" cy="1590392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90B073F-91F4-84A8-44AC-37EB27C9C5C4}"/>
              </a:ext>
            </a:extLst>
          </p:cNvPr>
          <p:cNvSpPr txBox="1"/>
          <p:nvPr/>
        </p:nvSpPr>
        <p:spPr>
          <a:xfrm>
            <a:off x="4929080" y="382459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・・・</a:t>
            </a:r>
            <a:endParaRPr kumimoji="1" lang="en-US" altLang="ja-JP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F563102-E672-2094-BDA1-9B67435290AE}"/>
              </a:ext>
            </a:extLst>
          </p:cNvPr>
          <p:cNvSpPr txBox="1"/>
          <p:nvPr/>
        </p:nvSpPr>
        <p:spPr>
          <a:xfrm>
            <a:off x="6912428" y="2750054"/>
            <a:ext cx="11079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測定値Ｓ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測定値Ｔ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測定値Ｕ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測定値Ｖ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測定値Ｗ</a:t>
            </a:r>
            <a:endParaRPr kumimoji="1" lang="en-US" altLang="ja-JP" dirty="0"/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41F9EEB-E6C6-9483-F4DD-D9F7CC78D4BE}"/>
              </a:ext>
            </a:extLst>
          </p:cNvPr>
          <p:cNvCxnSpPr>
            <a:cxnSpLocks/>
          </p:cNvCxnSpPr>
          <p:nvPr/>
        </p:nvCxnSpPr>
        <p:spPr>
          <a:xfrm>
            <a:off x="3906230" y="2926301"/>
            <a:ext cx="9438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554D0054-4A10-5C4E-151B-2043B62A9D6B}"/>
              </a:ext>
            </a:extLst>
          </p:cNvPr>
          <p:cNvCxnSpPr>
            <a:cxnSpLocks/>
          </p:cNvCxnSpPr>
          <p:nvPr/>
        </p:nvCxnSpPr>
        <p:spPr>
          <a:xfrm flipV="1">
            <a:off x="3906229" y="2926301"/>
            <a:ext cx="943874" cy="5220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DB8C4BAC-5C4A-D4D0-BF43-6013313247A5}"/>
              </a:ext>
            </a:extLst>
          </p:cNvPr>
          <p:cNvCxnSpPr>
            <a:cxnSpLocks/>
          </p:cNvCxnSpPr>
          <p:nvPr/>
        </p:nvCxnSpPr>
        <p:spPr>
          <a:xfrm flipV="1">
            <a:off x="3906229" y="2926301"/>
            <a:ext cx="943874" cy="1076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EDC8AAA4-E5CC-70EE-99AA-82E1258F997C}"/>
              </a:ext>
            </a:extLst>
          </p:cNvPr>
          <p:cNvCxnSpPr>
            <a:cxnSpLocks/>
          </p:cNvCxnSpPr>
          <p:nvPr/>
        </p:nvCxnSpPr>
        <p:spPr>
          <a:xfrm flipV="1">
            <a:off x="3906228" y="2926301"/>
            <a:ext cx="943875" cy="159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3688AE95-472E-63DA-9ADF-49F68030B1AB}"/>
              </a:ext>
            </a:extLst>
          </p:cNvPr>
          <p:cNvCxnSpPr>
            <a:cxnSpLocks/>
          </p:cNvCxnSpPr>
          <p:nvPr/>
        </p:nvCxnSpPr>
        <p:spPr>
          <a:xfrm flipV="1">
            <a:off x="3906228" y="2926301"/>
            <a:ext cx="943875" cy="2179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03C00DDB-69EA-DBC4-8E63-8B6173CECAE7}"/>
              </a:ext>
            </a:extLst>
          </p:cNvPr>
          <p:cNvCxnSpPr>
            <a:cxnSpLocks/>
          </p:cNvCxnSpPr>
          <p:nvPr/>
        </p:nvCxnSpPr>
        <p:spPr>
          <a:xfrm>
            <a:off x="3906226" y="2926300"/>
            <a:ext cx="871814" cy="591912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9FA0CACE-BD89-E7CD-EE49-73EF66F74D99}"/>
              </a:ext>
            </a:extLst>
          </p:cNvPr>
          <p:cNvCxnSpPr>
            <a:cxnSpLocks/>
          </p:cNvCxnSpPr>
          <p:nvPr/>
        </p:nvCxnSpPr>
        <p:spPr>
          <a:xfrm>
            <a:off x="3906226" y="3448362"/>
            <a:ext cx="871814" cy="65088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3F4BF60E-ECC7-543E-39FE-7A7A06AA2E40}"/>
              </a:ext>
            </a:extLst>
          </p:cNvPr>
          <p:cNvCxnSpPr>
            <a:cxnSpLocks/>
          </p:cNvCxnSpPr>
          <p:nvPr/>
        </p:nvCxnSpPr>
        <p:spPr>
          <a:xfrm flipV="1">
            <a:off x="3906226" y="3513450"/>
            <a:ext cx="869432" cy="48917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F63579E3-FEF4-83A3-C7B3-3DF70367EDF9}"/>
              </a:ext>
            </a:extLst>
          </p:cNvPr>
          <p:cNvCxnSpPr>
            <a:cxnSpLocks/>
          </p:cNvCxnSpPr>
          <p:nvPr/>
        </p:nvCxnSpPr>
        <p:spPr>
          <a:xfrm flipV="1">
            <a:off x="3915037" y="3508687"/>
            <a:ext cx="865384" cy="101600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933FF36A-D93E-16DA-0F2F-2C0174A8CA61}"/>
              </a:ext>
            </a:extLst>
          </p:cNvPr>
          <p:cNvCxnSpPr>
            <a:cxnSpLocks/>
          </p:cNvCxnSpPr>
          <p:nvPr/>
        </p:nvCxnSpPr>
        <p:spPr>
          <a:xfrm flipV="1">
            <a:off x="3906226" y="3515320"/>
            <a:ext cx="869432" cy="1590392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644C23EB-981F-D568-2AB3-AE084A683329}"/>
              </a:ext>
            </a:extLst>
          </p:cNvPr>
          <p:cNvCxnSpPr>
            <a:cxnSpLocks/>
          </p:cNvCxnSpPr>
          <p:nvPr/>
        </p:nvCxnSpPr>
        <p:spPr>
          <a:xfrm>
            <a:off x="5898066" y="2926301"/>
            <a:ext cx="9438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700FE29B-B411-239F-AA6C-D7B3E64FA27A}"/>
              </a:ext>
            </a:extLst>
          </p:cNvPr>
          <p:cNvCxnSpPr>
            <a:cxnSpLocks/>
          </p:cNvCxnSpPr>
          <p:nvPr/>
        </p:nvCxnSpPr>
        <p:spPr>
          <a:xfrm flipV="1">
            <a:off x="5898065" y="2926301"/>
            <a:ext cx="943874" cy="5220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7CBB510E-011D-44FD-75D3-ABDA3058A32A}"/>
              </a:ext>
            </a:extLst>
          </p:cNvPr>
          <p:cNvCxnSpPr>
            <a:cxnSpLocks/>
          </p:cNvCxnSpPr>
          <p:nvPr/>
        </p:nvCxnSpPr>
        <p:spPr>
          <a:xfrm flipV="1">
            <a:off x="5898065" y="2926301"/>
            <a:ext cx="943874" cy="1076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54C0BA75-5A15-15DB-751F-46029707A4DB}"/>
              </a:ext>
            </a:extLst>
          </p:cNvPr>
          <p:cNvCxnSpPr>
            <a:cxnSpLocks/>
          </p:cNvCxnSpPr>
          <p:nvPr/>
        </p:nvCxnSpPr>
        <p:spPr>
          <a:xfrm flipV="1">
            <a:off x="5898064" y="2926301"/>
            <a:ext cx="943875" cy="159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C5D02457-3B68-60B3-4A3B-AC5940F46488}"/>
              </a:ext>
            </a:extLst>
          </p:cNvPr>
          <p:cNvCxnSpPr>
            <a:cxnSpLocks/>
          </p:cNvCxnSpPr>
          <p:nvPr/>
        </p:nvCxnSpPr>
        <p:spPr>
          <a:xfrm flipV="1">
            <a:off x="5898064" y="2926301"/>
            <a:ext cx="943875" cy="2179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8448AB05-FB07-C21C-6D4C-43399779B11F}"/>
              </a:ext>
            </a:extLst>
          </p:cNvPr>
          <p:cNvCxnSpPr>
            <a:cxnSpLocks/>
          </p:cNvCxnSpPr>
          <p:nvPr/>
        </p:nvCxnSpPr>
        <p:spPr>
          <a:xfrm>
            <a:off x="5898062" y="2926300"/>
            <a:ext cx="871814" cy="591912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D01BACFA-040F-2DC2-7A60-C35484C16108}"/>
              </a:ext>
            </a:extLst>
          </p:cNvPr>
          <p:cNvCxnSpPr>
            <a:cxnSpLocks/>
          </p:cNvCxnSpPr>
          <p:nvPr/>
        </p:nvCxnSpPr>
        <p:spPr>
          <a:xfrm>
            <a:off x="5898062" y="3448362"/>
            <a:ext cx="871814" cy="65088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15AF0639-5EF0-B3EB-5B70-EF53C0669249}"/>
              </a:ext>
            </a:extLst>
          </p:cNvPr>
          <p:cNvCxnSpPr>
            <a:cxnSpLocks/>
          </p:cNvCxnSpPr>
          <p:nvPr/>
        </p:nvCxnSpPr>
        <p:spPr>
          <a:xfrm flipV="1">
            <a:off x="5898062" y="3513450"/>
            <a:ext cx="869432" cy="48917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4BC25C50-6E14-8331-7F14-EF5554FF20BE}"/>
              </a:ext>
            </a:extLst>
          </p:cNvPr>
          <p:cNvCxnSpPr>
            <a:cxnSpLocks/>
          </p:cNvCxnSpPr>
          <p:nvPr/>
        </p:nvCxnSpPr>
        <p:spPr>
          <a:xfrm flipV="1">
            <a:off x="5906873" y="3508687"/>
            <a:ext cx="865384" cy="101600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F7042A90-E13B-B2CC-E7B5-711D62DD0A36}"/>
              </a:ext>
            </a:extLst>
          </p:cNvPr>
          <p:cNvCxnSpPr>
            <a:cxnSpLocks/>
          </p:cNvCxnSpPr>
          <p:nvPr/>
        </p:nvCxnSpPr>
        <p:spPr>
          <a:xfrm flipV="1">
            <a:off x="5898062" y="3515320"/>
            <a:ext cx="869432" cy="1590392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DFCE2C4-A2E2-47A7-4A85-48A259EEE757}"/>
              </a:ext>
            </a:extLst>
          </p:cNvPr>
          <p:cNvSpPr txBox="1"/>
          <p:nvPr/>
        </p:nvSpPr>
        <p:spPr>
          <a:xfrm>
            <a:off x="8554728" y="1017048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線形非線形を調べる方法</a:t>
            </a:r>
            <a:endParaRPr kumimoji="1" lang="en-US" altLang="ja-JP" u="sng" dirty="0"/>
          </a:p>
          <a:p>
            <a:r>
              <a:rPr kumimoji="1" lang="ja-JP" altLang="en-US" dirty="0"/>
              <a:t>　散布図行列</a:t>
            </a:r>
            <a:endParaRPr kumimoji="1" lang="en-US" altLang="ja-JP" dirty="0"/>
          </a:p>
          <a:p>
            <a:r>
              <a:rPr lang="ja-JP" altLang="en-US" dirty="0"/>
              <a:t>　残差プロット</a:t>
            </a:r>
            <a:endParaRPr lang="en-US" altLang="ja-JP" dirty="0"/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12709DF6-DF30-C06C-F76C-3F403C862E4D}"/>
              </a:ext>
            </a:extLst>
          </p:cNvPr>
          <p:cNvSpPr txBox="1"/>
          <p:nvPr/>
        </p:nvSpPr>
        <p:spPr>
          <a:xfrm>
            <a:off x="8554728" y="2410432"/>
            <a:ext cx="480131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予測値を出す</a:t>
            </a:r>
            <a:endParaRPr kumimoji="1" lang="en-US" altLang="ja-JP" u="sng" dirty="0"/>
          </a:p>
          <a:p>
            <a:r>
              <a:rPr lang="ja-JP" altLang="en-US" dirty="0"/>
              <a:t>　</a:t>
            </a:r>
            <a:r>
              <a:rPr kumimoji="1" lang="ja-JP" altLang="en-US" u="sng" dirty="0"/>
              <a:t>非線形モデルの場合</a:t>
            </a:r>
            <a:endParaRPr kumimoji="1" lang="en-US" altLang="ja-JP" u="sng" dirty="0"/>
          </a:p>
          <a:p>
            <a:r>
              <a:rPr kumimoji="1" lang="ja-JP" altLang="en-US" dirty="0"/>
              <a:t>　　決定木、ランダムフォレスト</a:t>
            </a:r>
          </a:p>
          <a:p>
            <a:r>
              <a:rPr kumimoji="1" lang="ja-JP" altLang="en-US" dirty="0"/>
              <a:t>　</a:t>
            </a:r>
            <a:r>
              <a:rPr kumimoji="1" lang="ja-JP" altLang="en-US" u="sng" dirty="0"/>
              <a:t>線形モデルで表せる場合</a:t>
            </a:r>
            <a:endParaRPr kumimoji="1" lang="en-US" altLang="ja-JP" u="sng" dirty="0"/>
          </a:p>
          <a:p>
            <a:r>
              <a:rPr lang="ja-JP" altLang="en-US" dirty="0"/>
              <a:t>　　重回帰分析</a:t>
            </a:r>
            <a:endParaRPr kumimoji="1" lang="en-US" altLang="ja-JP" dirty="0"/>
          </a:p>
          <a:p>
            <a:r>
              <a:rPr kumimoji="1" lang="ja-JP" altLang="en-US" dirty="0"/>
              <a:t>　　予測値</a:t>
            </a:r>
            <a:r>
              <a:rPr kumimoji="1" lang="en-US" altLang="ja-JP" dirty="0"/>
              <a:t>F</a:t>
            </a:r>
            <a:r>
              <a:rPr lang="ja-JP" altLang="en-US" dirty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 err="1"/>
              <a:t>aA</a:t>
            </a:r>
            <a:r>
              <a:rPr lang="en-US" altLang="ja-JP" dirty="0"/>
              <a:t> + </a:t>
            </a:r>
            <a:r>
              <a:rPr lang="en-US" altLang="ja-JP" dirty="0" err="1"/>
              <a:t>bB</a:t>
            </a:r>
            <a:r>
              <a:rPr lang="en-US" altLang="ja-JP" dirty="0"/>
              <a:t> + </a:t>
            </a:r>
            <a:r>
              <a:rPr lang="en-US" altLang="ja-JP" dirty="0" err="1"/>
              <a:t>cC</a:t>
            </a:r>
            <a:r>
              <a:rPr lang="en-US" altLang="ja-JP" dirty="0"/>
              <a:t> + </a:t>
            </a:r>
            <a:r>
              <a:rPr lang="en-US" altLang="ja-JP" dirty="0" err="1"/>
              <a:t>dD</a:t>
            </a:r>
            <a:r>
              <a:rPr lang="en-US" altLang="ja-JP" dirty="0"/>
              <a:t> + </a:t>
            </a:r>
            <a:r>
              <a:rPr lang="en-US" altLang="ja-JP" dirty="0" err="1"/>
              <a:t>eE</a:t>
            </a:r>
            <a:endParaRPr lang="en-US" altLang="ja-JP" dirty="0"/>
          </a:p>
          <a:p>
            <a:r>
              <a:rPr kumimoji="1" lang="ja-JP" altLang="en-US" dirty="0"/>
              <a:t>　　</a:t>
            </a:r>
            <a:r>
              <a:rPr kumimoji="1" lang="en-US" altLang="ja-JP" dirty="0"/>
              <a:t>※</a:t>
            </a:r>
            <a:r>
              <a:rPr kumimoji="1" lang="ja-JP" altLang="en-US" dirty="0"/>
              <a:t>小文字：回帰係数　大文字：説明変数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u="sng" dirty="0"/>
              <a:t>確率分布を求める</a:t>
            </a:r>
            <a:endParaRPr kumimoji="1" lang="en-US" altLang="ja-JP" u="sng" dirty="0"/>
          </a:p>
          <a:p>
            <a:r>
              <a:rPr lang="ja-JP" altLang="en-US" dirty="0"/>
              <a:t>　ガウス過程回帰</a:t>
            </a:r>
            <a:endParaRPr kumimoji="1" lang="ja-JP" altLang="en-US" dirty="0"/>
          </a:p>
          <a:p>
            <a:endParaRPr kumimoji="1" lang="ja-JP" altLang="en-US" u="sng" dirty="0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ACEA220B-0265-75DF-2F8B-4152CF1FBD88}"/>
              </a:ext>
            </a:extLst>
          </p:cNvPr>
          <p:cNvSpPr txBox="1"/>
          <p:nvPr/>
        </p:nvSpPr>
        <p:spPr>
          <a:xfrm>
            <a:off x="230235" y="294237"/>
            <a:ext cx="1072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設備</a:t>
            </a:r>
            <a:r>
              <a:rPr kumimoji="1" lang="en-US" altLang="ja-JP" dirty="0"/>
              <a:t>X</a:t>
            </a:r>
            <a:r>
              <a:rPr kumimoji="1" lang="ja-JP" altLang="en-US" dirty="0"/>
              <a:t>の測定値（Ａ－Ｅ）のもとで、設備Ｙの測定値（Ｆ－Ｇ）を予測してみる</a:t>
            </a:r>
          </a:p>
        </p:txBody>
      </p:sp>
    </p:spTree>
    <p:extLst>
      <p:ext uri="{BB962C8B-B14F-4D97-AF65-F5344CB8AC3E}">
        <p14:creationId xmlns:p14="http://schemas.microsoft.com/office/powerpoint/2010/main" val="383626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5B2D91-3253-ABCA-3B63-89DC19E170AE}"/>
              </a:ext>
            </a:extLst>
          </p:cNvPr>
          <p:cNvSpPr txBox="1"/>
          <p:nvPr/>
        </p:nvSpPr>
        <p:spPr>
          <a:xfrm>
            <a:off x="148044" y="163287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LIN</a:t>
            </a:r>
            <a:r>
              <a:rPr kumimoji="1" lang="ja-JP" altLang="en-US" dirty="0"/>
              <a:t>付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99E75A22-11E7-D69B-3298-57AD7735A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02540"/>
              </p:ext>
            </p:extLst>
          </p:nvPr>
        </p:nvGraphicFramePr>
        <p:xfrm>
          <a:off x="490582" y="841586"/>
          <a:ext cx="3436984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492">
                  <a:extLst>
                    <a:ext uri="{9D8B030D-6E8A-4147-A177-3AD203B41FA5}">
                      <a16:colId xmlns:a16="http://schemas.microsoft.com/office/drawing/2014/main" val="4017343114"/>
                    </a:ext>
                  </a:extLst>
                </a:gridCol>
                <a:gridCol w="1718492">
                  <a:extLst>
                    <a:ext uri="{9D8B030D-6E8A-4147-A177-3AD203B41FA5}">
                      <a16:colId xmlns:a16="http://schemas.microsoft.com/office/drawing/2014/main" val="2861513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工程番号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工程名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6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熱かしめ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285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ピン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SA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溶接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5219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性能検査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59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ホール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IC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319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コネクタ端子外観検査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97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ケースアッパー溶着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9728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部品供給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94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部品組付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999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はんだ付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3571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5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168</Words>
  <Application>Microsoft Office PowerPoint</Application>
  <PresentationFormat>ワイド画面</PresentationFormat>
  <Paragraphs>67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>DENSO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Hikaru Kitagawa (北河 光留)</dc:creator>
  <cp:lastModifiedBy>Hikaru Kitagawa (北河 光留)</cp:lastModifiedBy>
  <cp:revision>2</cp:revision>
  <dcterms:created xsi:type="dcterms:W3CDTF">2025-11-18T03:03:54Z</dcterms:created>
  <dcterms:modified xsi:type="dcterms:W3CDTF">2025-11-21T09:24:57Z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2025-11-18T07:42:50Z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a3bc756c-f86b-4abe-803a-a8acf6723def</vt:lpwstr>
  </property>
  <property fmtid="{D5CDD505-2E9C-101B-9397-08002B2CF9AE}" pid="8" name="MSIP_Label_7ed1414a-99f2-46f9-bbe5-740af8d1b502_ContentBits">
    <vt:lpwstr>1</vt:lpwstr>
  </property>
  <property fmtid="{D5CDD505-2E9C-101B-9397-08002B2CF9AE}" pid="9" name="ClassificationContentMarkingHeaderLocations">
    <vt:lpwstr>Office テーマ:8</vt:lpwstr>
  </property>
  <property fmtid="{D5CDD505-2E9C-101B-9397-08002B2CF9AE}" pid="10" name="ClassificationContentMarkingHeaderText">
    <vt:lpwstr>CONFIDENTIAL</vt:lpwstr>
  </property>
</Properties>
</file>